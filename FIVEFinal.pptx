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312" r:id="rId4"/>
    <p:sldId id="271" r:id="rId5"/>
    <p:sldId id="257" r:id="rId6"/>
    <p:sldId id="270" r:id="rId7"/>
    <p:sldId id="268" r:id="rId8"/>
    <p:sldId id="269" r:id="rId9"/>
    <p:sldId id="306" r:id="rId10"/>
    <p:sldId id="267" r:id="rId11"/>
    <p:sldId id="309" r:id="rId12"/>
    <p:sldId id="266" r:id="rId13"/>
    <p:sldId id="265" r:id="rId14"/>
    <p:sldId id="264" r:id="rId15"/>
    <p:sldId id="263" r:id="rId16"/>
    <p:sldId id="262" r:id="rId17"/>
    <p:sldId id="261" r:id="rId18"/>
    <p:sldId id="260" r:id="rId19"/>
    <p:sldId id="258" r:id="rId20"/>
    <p:sldId id="259" r:id="rId21"/>
    <p:sldId id="293" r:id="rId22"/>
    <p:sldId id="292" r:id="rId23"/>
    <p:sldId id="307" r:id="rId24"/>
    <p:sldId id="290" r:id="rId25"/>
    <p:sldId id="287" r:id="rId26"/>
    <p:sldId id="286" r:id="rId27"/>
    <p:sldId id="289" r:id="rId28"/>
    <p:sldId id="288" r:id="rId29"/>
    <p:sldId id="31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63939-114E-4084-A101-177AF628F3C5}" v="26" dt="2025-04-12T18:16:21.226"/>
    <p1510:client id="{5CCF47EA-23C4-9B31-1712-E8FDADD66B03}" v="48" dt="2025-04-12T19:37:27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2:15:26.9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1,'753'43,"-551"-25,312 14,-3-40,-454 3,106-23,-133 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2:15:33.1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79,'81'0,"311"-12,165 2,-329 13,89 11,-141-9,-99-4,100 12,-110-7,1-3,97-8,-162 4,149-17,13-1,-3 11,78-2,345-6,-322 16,36-3,-288 3,0-2,0 1,-1-2,19-5,-12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2:15:35.7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0,'4072'0'0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2:15:37.8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0,'3'2,"1"0,-1-1,1 1,0-1,-1 0,1 0,0-1,0 1,0-1,0 0,0 0,4 0,7 0,1237 11,226 5,-880 0,-227-17,-229-17,-96 10,55-2,-82 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2:15:39.3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1 175,'67'-3,"67"-12,-23 2,677-11,-70 6,53-71,-667 80,-1 5,1 4,130 18,-44-3,68-22,-92-2,-120 7,-27 1,0-1,1 2,-1 1,0 0,0 1,0 1,-1 1,1 1,20 8,-35-11,0 0,0-1,0 1,0-1,0 0,0 0,0-1,1 1,-1-1,0 0,1 0,-1 0,0 0,5-2,2-2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2:15:41.4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0 196,'1'-1,"1"0,-1 0,0 0,0 0,1 1,-1-1,0 0,1 0,-1 1,1-1,-1 1,1-1,-1 1,1 0,-1 0,1 0,-1 0,4 0,-2-1,118-7,128 7,-116 3,764-15,-687 11,-31 2,238-31,-275 11,178-2,-319 22,41 1,0-2,0-2,0-2,0-1,73-21,-75 14,1 3,0 1,1 2,52-2,172 8,-135 3,-107 0,1 2,-1 0,0 1,0 2,0 0,33 16,-20-9,47 13,-56-21,-1-2,1-1,28 0,-35-3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4T14:15:22.9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1,'3'0,"4"0,3 0,4 0,2 0,2 0,0 0,0 0,0 0,-2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4T14:15:26.5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0,'353'0,"-338"0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4T14:15:29.6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1,'477'0,"-462"0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4T14:15:33.6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0,'424'0,"-409"0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4T14:15:38.1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1,'283'0,"-268"0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1T13:59:24.90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24342,'32887'0'0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7:57:28.32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91 24466,'28427'0'0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7:57:44.07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24546,'28519'0'0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2T17:58:42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63,'9'0,"12"0,-1 0,1-2,0 0,24-6,-14 1,0 2,63-4,65 10,-67 1,214-1,-288-3,0 1,0-2,24-7,-21 5,0 1,23-2,355 3,-202 6,-10-3,-159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2T17:59:10.54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2,'102'-2,"112"4,-119 12,-65-8,36 2,304-5,-191-5,-162 1,0 2,-1 0,1 1,31 7,-11 0,48 6,13 3,-53-6,0-3,1-1,88 2,371-12,-461-1,63-10,30-2,230 14,-191 2,-152-1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7:59:26.82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0 152 0,'2479'-152'0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2T17:59:31.33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0,'2539'0'0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2T17:59:41.72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33,'1453'0,"-1433"-1,-1-1,1-1,19-6,-16 4,38-4,23 5,104 8,-103 10,-55-8,36 2,180-6,-130-3,-90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2T18:16:31.38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0,'25'2,"0"0,39 10,-35-6,39 2,-15-6,-32-2,0 0,-1 2,37 7,105 22,-131-26,32 3,-36-5,53 12,5 4,98 11,42 8,-185-29,1-3,62 3,83-10,-68-1,304 2,-403-2,1 0,-1-1,0-1,31-10,-47 13,0-1,0 1,0-1,0 1,0-1,0 0,0 0,-1 0,1-1,-1 1,0-1,1 1,-1-1,0 0,0 0,-1 0,1 0,-1 0,1 0,0-4,10-16,-4 11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3:19:13.6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1 160,'924'0,"-859"3,-1 3,65 15,41 5,397-16,-336-12,528 2,-523 14,-60 0,210-11,-286-3,-75-2,0 0,38-10,-35 7,46-5,370 10,37-1,-328-15,-84 7,69 1,-80 5,60-9,28-2,-101 9,0-1,83-24,-41 9,11-2,101-19,-50 24,195 2,10 42,-127-18,-200-9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3:19:30.8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0,'11239'63'0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4T13:26:01.4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11,'2284'0,"-2234"-5,-32-1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2:52:31.16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24565,'28064'125'0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07:24.4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25,'1415'0,"-1372"-2,46-9,40-1,1362 13,-1467-1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07:27.7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50,'1038'0,"-1021"-2,0 0,0 0,0-2,0 0,16-6,-15 4,-1 1,1 0,0 2,30-3,17 6,-35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07:29.1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0,'242'12,"-28"0,1009-10,-627-4,-442 14,6 0,-140-12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07:29.9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27,'324'-19,"-220"12,111 7,-97 1,-85-1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7:17:27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0,'2798'-24'0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1T17:17:31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 0,'4705'-47'0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1T17:22:00.8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96,'9'-2,"0"1,-1-1,1 0,-1-1,1 0,8-4,19-7,32-3,1 2,0 3,1 3,117 0,280 32,-300-20,-148-3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4T16:43:42.3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88 0,'882'-88'0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4T16:43:43.8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0,'675'25,"-395"-14,-264-11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8991E-4A02-5320-8871-31D6E75F7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77612-797A-93E3-DE46-5CD2DF0D9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4EDD6-5D3D-5AE6-DC2C-F7647D4D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48272-F138-83EC-08F9-CDD516C9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A722-1AB2-0A02-4824-C9007F2C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12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9D28-DDDA-3A79-F023-8EADCC64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DBC9E-2DB0-AE9E-1DEA-D30005527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55586-7172-DF92-509A-3FA371EF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55B84-5794-92F1-74DE-F121A1DA6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3C811-E399-9B1E-E80F-FF8AD6DE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915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0353-68E8-9E0B-9DFE-7D6C5C9C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469D8-CD88-851F-63D9-E363FA3A4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DACC6-9E7C-EB35-E160-2BA8BCC2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0721E-ED2C-89D4-F555-FE9C0D80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6F26D-21E8-AA94-B3E7-ED049F9E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399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ACA6-DA0B-7073-46D4-8F7A5461A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9626E-A3BF-4BFD-B1F9-A753EDED7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124B0-3D4C-9B21-773E-EE2EFF733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5D6A0-20B9-DADC-D253-223EEA10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79766-DFB4-5A13-0D6A-1D41C89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DCB6D-B9A7-7E2D-AB31-2E7EA52C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068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894A0-8563-4E85-FB68-C754BFFF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77417-A4DC-6058-3162-EF18FB941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A349-2DF7-AC43-D993-CA67B6348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79A5C-890D-9A23-470F-9EBC583EE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DEF85-F241-2189-1BAA-51F1F6CA3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45159-D2AF-6AAB-6FD0-5CA02AFC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3A8B9-076F-6092-119E-ECF563CC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71B48-3E79-2A7F-2362-58CB1F68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613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0437-BA21-408A-7B58-82B425178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5771A-146C-BBDC-D7F5-61380631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5BB1D-04D7-F4A6-DE88-A50D83AC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987FD-3040-5EC3-C66A-6C36DB7B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699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0EC4E-9705-9197-F595-02B3F5BD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77483-864C-BBC4-3700-36668CA5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DA894-914B-85F7-8DB5-AD26BFD7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97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FC26-EBC1-D0C9-2EDF-8E6A7F70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CFC8-8B22-DAD8-96AE-EB4B78BCB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3F5CA-0F3E-E93C-A81B-5510ADB37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A3783-D922-5E59-33F8-462DDC0B4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536DE-A9C9-2267-C802-CB42AF99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9C690-C99C-779D-C350-2AF9BC3C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199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BF6F-AC97-51EA-1F1B-BA554B59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35FF3-B12E-03C2-016D-95AE44023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7A2F1-156D-678A-69B0-810CBF4F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E3393-9BFC-3F27-5AEB-B0007FE6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3A782-107E-D609-7212-7498FD59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D931E-18E7-002D-4F21-4726C97F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717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164E-0A57-39BD-41EE-6652ED6A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636A2-B771-24FC-9916-0D72684E9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71BC4-ABE6-2F8F-7932-F0FEAE37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12163-6BF1-C568-DD35-F1F706C1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71542-D5B3-2747-2858-9FAA44B5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591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4DB62-E51E-70AC-A663-68431D287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4EB3E-270F-F006-FB30-146EE1D3E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F320B-09A3-DD92-9A8A-6117E956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590DC-9A82-8BBE-25C8-825BE726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2ED90-E82A-41C3-BC99-CE510955C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543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C141F-4E31-84AB-6447-31F96E24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B0D44-E4E9-2041-6426-9357C70FB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D0E2D-7863-A0AD-322A-8CAFC0379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80C77-8A68-4C55-8487-1E0E81E19F96}" type="datetimeFigureOut">
              <a:rPr lang="en-CA" smtClean="0"/>
              <a:t>2025-04-12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15FAF-5CC3-806C-2C56-9F167D651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8081A-F13E-6C7C-4A95-5405C0070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A6294-9C26-4B5E-BAE6-3E2934C4EF1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16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18.xml"/><Relationship Id="rId18" Type="http://schemas.openxmlformats.org/officeDocument/2006/relationships/image" Target="../media/image27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24.png"/><Relationship Id="rId17" Type="http://schemas.openxmlformats.org/officeDocument/2006/relationships/customXml" Target="../ink/ink20.xml"/><Relationship Id="rId2" Type="http://schemas.openxmlformats.org/officeDocument/2006/relationships/image" Target="../media/image19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6.xml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22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18" Type="http://schemas.openxmlformats.org/officeDocument/2006/relationships/image" Target="../media/image41.png"/><Relationship Id="rId3" Type="http://schemas.openxmlformats.org/officeDocument/2006/relationships/customXml" Target="../ink/ink24.xml"/><Relationship Id="rId21" Type="http://schemas.openxmlformats.org/officeDocument/2006/relationships/image" Target="../media/image43.png"/><Relationship Id="rId7" Type="http://schemas.openxmlformats.org/officeDocument/2006/relationships/customXml" Target="../ink/ink26.xml"/><Relationship Id="rId12" Type="http://schemas.openxmlformats.org/officeDocument/2006/relationships/image" Target="../media/image37.png"/><Relationship Id="rId17" Type="http://schemas.openxmlformats.org/officeDocument/2006/relationships/customXml" Target="../ink/ink30.xml"/><Relationship Id="rId2" Type="http://schemas.openxmlformats.org/officeDocument/2006/relationships/image" Target="../media/image32.png"/><Relationship Id="rId16" Type="http://schemas.openxmlformats.org/officeDocument/2006/relationships/image" Target="../media/image40.png"/><Relationship Id="rId20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customXml" Target="../ink/ink28.xml"/><Relationship Id="rId5" Type="http://schemas.openxmlformats.org/officeDocument/2006/relationships/customXml" Target="../ink/ink25.xml"/><Relationship Id="rId15" Type="http://schemas.openxmlformats.org/officeDocument/2006/relationships/customXml" Target="../ink/ink29.xml"/><Relationship Id="rId10" Type="http://schemas.openxmlformats.org/officeDocument/2006/relationships/image" Target="../media/image36.png"/><Relationship Id="rId19" Type="http://schemas.openxmlformats.org/officeDocument/2006/relationships/image" Target="../media/image42.png"/><Relationship Id="rId4" Type="http://schemas.openxmlformats.org/officeDocument/2006/relationships/image" Target="../media/image33.png"/><Relationship Id="rId9" Type="http://schemas.openxmlformats.org/officeDocument/2006/relationships/customXml" Target="../ink/ink27.xml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33.xml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7E022-E8F5-9AB6-6887-AEDB3C2C4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CA" sz="5200" b="0" i="0">
                <a:effectLst/>
                <a:latin typeface="Lato" panose="020F0502020204030203" pitchFamily="34" charset="0"/>
              </a:rPr>
              <a:t>ISEC 2022 | Final Assignment</a:t>
            </a:r>
            <a:endParaRPr lang="en-US" sz="5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BE9B2-E1E9-1B49-5EEF-86EF2976E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 b="0" i="0">
                <a:effectLst/>
                <a:latin typeface="Arial" panose="020B0604020202020204" pitchFamily="34" charset="0"/>
              </a:rPr>
              <a:t>Firewall, VPN’s, IPS, Endpoint</a:t>
            </a:r>
            <a:br>
              <a:rPr lang="en-US"/>
            </a:br>
            <a:r>
              <a:rPr lang="en-US" b="0" i="0">
                <a:effectLst/>
                <a:latin typeface="Arial" panose="020B0604020202020204" pitchFamily="34" charset="0"/>
              </a:rPr>
              <a:t>Final Assignment</a:t>
            </a:r>
            <a:endParaRPr lang="en-CA"/>
          </a:p>
        </p:txBody>
      </p:sp>
      <p:pic>
        <p:nvPicPr>
          <p:cNvPr id="20" name="Graphic 19" descr="Checkmark">
            <a:extLst>
              <a:ext uri="{FF2B5EF4-FFF2-40B4-BE49-F238E27FC236}">
                <a16:creationId xmlns:a16="http://schemas.microsoft.com/office/drawing/2014/main" id="{2CABBB6C-34D0-FA7C-BA13-819F558AD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Checkmark">
            <a:extLst>
              <a:ext uri="{FF2B5EF4-FFF2-40B4-BE49-F238E27FC236}">
                <a16:creationId xmlns:a16="http://schemas.microsoft.com/office/drawing/2014/main" id="{97F88D01-3E21-4143-97E9-8A50B8023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7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C0BBA-9F4F-E4FA-7678-F777A92E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Regarding the alerts on Feb 21 2020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1B47C-3256-2AB0-586E-CFC69C94C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 created by:</a:t>
            </a:r>
          </a:p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Steve Oliver, Matt Usher, Ibrahim Yusuf </a:t>
            </a:r>
            <a:endParaRPr lang="en-US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22" name="Graphic 21" descr="Phishing">
            <a:extLst>
              <a:ext uri="{FF2B5EF4-FFF2-40B4-BE49-F238E27FC236}">
                <a16:creationId xmlns:a16="http://schemas.microsoft.com/office/drawing/2014/main" id="{EEF2B280-3055-56FA-16CE-F2966B100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23" name="Graphic 22" descr="Phishing">
            <a:extLst>
              <a:ext uri="{FF2B5EF4-FFF2-40B4-BE49-F238E27FC236}">
                <a16:creationId xmlns:a16="http://schemas.microsoft.com/office/drawing/2014/main" id="{B07C4B57-76FB-438E-A7A0-4F5DF74A7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2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C5F97-9BFE-7818-B6A5-8E2143C2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44EB-FFA6-09B6-DEAE-99CBBFA8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Synopsis of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FD945-5778-ADC0-CB36-C7AA82F25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1846944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pPr algn="just"/>
            <a:r>
              <a:rPr lang="en-CA"/>
              <a:t>On Feb 21 2020, between the hours of </a:t>
            </a:r>
            <a:r>
              <a:rPr lang="en-CA">
                <a:solidFill>
                  <a:srgbClr val="353535"/>
                </a:solidFill>
                <a:ea typeface="+mj-lt"/>
                <a:cs typeface="+mj-lt"/>
              </a:rPr>
              <a:t>12</a:t>
            </a:r>
            <a:r>
              <a:rPr lang="en-CA" sz="2800">
                <a:solidFill>
                  <a:srgbClr val="353535"/>
                </a:solidFill>
                <a:ea typeface="+mj-lt"/>
                <a:cs typeface="+mj-lt"/>
              </a:rPr>
              <a:t>:53am and 1:12am</a:t>
            </a:r>
            <a:r>
              <a:rPr lang="en-CA"/>
              <a:t> a malicious file called </a:t>
            </a:r>
            <a:r>
              <a:rPr lang="en-CA" err="1"/>
              <a:t>yrkbdmt.bin</a:t>
            </a:r>
            <a:r>
              <a:rPr lang="en-CA"/>
              <a:t> was downloaded to host computer </a:t>
            </a:r>
            <a:r>
              <a:rPr lang="en-CA" sz="2800"/>
              <a:t>DESKTOP-TZMKHKC. </a:t>
            </a:r>
          </a:p>
          <a:p>
            <a:pPr algn="just"/>
            <a:endParaRPr lang="en-CA" sz="2800"/>
          </a:p>
          <a:p>
            <a:pPr algn="just"/>
            <a:r>
              <a:rPr lang="en-CA" sz="2800"/>
              <a:t>It came from a server called one-hot-mess and the file is confirmed using a malware hash matching database to be a known Trojan.</a:t>
            </a:r>
          </a:p>
          <a:p>
            <a:pPr algn="just"/>
            <a:endParaRPr lang="en-CA"/>
          </a:p>
          <a:p>
            <a:pPr algn="just"/>
            <a:r>
              <a:rPr lang="en-CA"/>
              <a:t>Using Kibana it appears that the geo-location is Germany and Ukraine, however it may just be already compromised computers distributing the Trojan.</a:t>
            </a:r>
          </a:p>
          <a:p>
            <a:pPr algn="just"/>
            <a:endParaRPr lang="en-CA" sz="2800"/>
          </a:p>
          <a:p>
            <a:pPr algn="just"/>
            <a:endParaRPr lang="en-CA" sz="2800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479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To find the information we open </a:t>
            </a:r>
            <a:r>
              <a:rPr lang="en-US" sz="3200" err="1"/>
              <a:t>Sguil</a:t>
            </a:r>
            <a:r>
              <a:rPr lang="en-US" sz="3200"/>
              <a:t> and go to the alerts in February</a:t>
            </a:r>
            <a:endParaRPr lang="en-CA" sz="3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9144ED-E952-6FF4-BE0F-2353EB4BC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834" y="681038"/>
            <a:ext cx="10450332" cy="6176962"/>
          </a:xfrm>
        </p:spPr>
      </p:pic>
    </p:spTree>
    <p:extLst>
      <p:ext uri="{BB962C8B-B14F-4D97-AF65-F5344CB8AC3E}">
        <p14:creationId xmlns:p14="http://schemas.microsoft.com/office/powerpoint/2010/main" val="2747575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167571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5 Alerts from Feb 21 2020</a:t>
            </a:r>
            <a:br>
              <a:rPr lang="en-US"/>
            </a:br>
            <a:r>
              <a:rPr lang="en-CA" sz="2800" b="1">
                <a:solidFill>
                  <a:srgbClr val="353535"/>
                </a:solidFill>
                <a:ea typeface="+mj-lt"/>
                <a:cs typeface="+mj-lt"/>
              </a:rPr>
              <a:t>00:53:55 to 01:11:48. The alerts show suspicious activity for a little over 17 minutes, but most of the alerts took place for a little over 1 minute and 12 seconds</a:t>
            </a:r>
            <a:br>
              <a:rPr lang="en-US"/>
            </a:br>
            <a:r>
              <a:rPr lang="en-US"/>
              <a:t>As verified in </a:t>
            </a:r>
            <a:r>
              <a:rPr lang="en-US" err="1"/>
              <a:t>Sguil</a:t>
            </a:r>
            <a:endParaRPr lang="en-CA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A7A235F-0070-649F-E276-4F19AFBC2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33746"/>
            <a:ext cx="12192000" cy="187154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EDC569-AD00-49D5-7C27-CD0DD96C2EC0}"/>
                  </a:ext>
                </a:extLst>
              </p14:cNvPr>
              <p14:cNvContentPartPr/>
              <p14:nvPr/>
            </p14:nvContentPartPr>
            <p14:xfrm>
              <a:off x="3576642" y="2964526"/>
              <a:ext cx="803160" cy="34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EDC569-AD00-49D5-7C27-CD0DD96C2E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2642" y="2855377"/>
                <a:ext cx="910800" cy="252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ECB619F-B1F6-411E-165C-F85ED5F77E6F}"/>
                  </a:ext>
                </a:extLst>
              </p14:cNvPr>
              <p14:cNvContentPartPr/>
              <p14:nvPr/>
            </p14:nvContentPartPr>
            <p14:xfrm>
              <a:off x="3166242" y="3427486"/>
              <a:ext cx="1535040" cy="36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ECB619F-B1F6-411E-165C-F85ED5F77E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2242" y="3319486"/>
                <a:ext cx="16426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0A93BC0-E910-91DA-1850-D7D2BDBE5880}"/>
                  </a:ext>
                </a:extLst>
              </p14:cNvPr>
              <p14:cNvContentPartPr/>
              <p14:nvPr/>
            </p14:nvContentPartPr>
            <p14:xfrm>
              <a:off x="3193242" y="3737806"/>
              <a:ext cx="146628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0A93BC0-E910-91DA-1850-D7D2BDBE58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39242" y="3629806"/>
                <a:ext cx="1573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A616462-F31B-F9D3-E0B6-5F9CAEB63E6E}"/>
                  </a:ext>
                </a:extLst>
              </p14:cNvPr>
              <p14:cNvContentPartPr/>
              <p14:nvPr/>
            </p14:nvContentPartPr>
            <p14:xfrm>
              <a:off x="3219210" y="4038320"/>
              <a:ext cx="1467360" cy="19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A616462-F31B-F9D3-E0B6-5F9CAEB63E6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65210" y="3932284"/>
                <a:ext cx="1575000" cy="231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CF8487C-AF47-2392-B268-16E34F9BEB62}"/>
                  </a:ext>
                </a:extLst>
              </p14:cNvPr>
              <p14:cNvContentPartPr/>
              <p14:nvPr/>
            </p14:nvContentPartPr>
            <p14:xfrm>
              <a:off x="3187530" y="4261160"/>
              <a:ext cx="1469880" cy="63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CF8487C-AF47-2392-B268-16E34F9BEB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33530" y="4153160"/>
                <a:ext cx="15775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F148311-FF7B-202A-B1D9-073639B527DE}"/>
                  </a:ext>
                </a:extLst>
              </p14:cNvPr>
              <p14:cNvContentPartPr/>
              <p14:nvPr/>
            </p14:nvContentPartPr>
            <p14:xfrm>
              <a:off x="3206610" y="4501280"/>
              <a:ext cx="1499760" cy="70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F148311-FF7B-202A-B1D9-073639B527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52610" y="4393280"/>
                <a:ext cx="16074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7A9E64-51BA-D3F1-F0D7-E38C7F5F30FA}"/>
                  </a:ext>
                </a:extLst>
              </p14:cNvPr>
              <p14:cNvContentPartPr/>
              <p14:nvPr/>
            </p14:nvContentPartPr>
            <p14:xfrm>
              <a:off x="895090" y="3466810"/>
              <a:ext cx="5004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7A9E64-51BA-D3F1-F0D7-E38C7F5F30F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1090" y="3358810"/>
                <a:ext cx="157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9BB83B-28D9-DD82-6844-7D6CD2942A91}"/>
                  </a:ext>
                </a:extLst>
              </p14:cNvPr>
              <p14:cNvContentPartPr/>
              <p14:nvPr/>
            </p14:nvContentPartPr>
            <p14:xfrm>
              <a:off x="825250" y="3733570"/>
              <a:ext cx="13284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9BB83B-28D9-DD82-6844-7D6CD2942A9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1250" y="3625570"/>
                <a:ext cx="240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98ACA2-9B6E-EDEA-7733-53109AE47380}"/>
                  </a:ext>
                </a:extLst>
              </p14:cNvPr>
              <p14:cNvContentPartPr/>
              <p14:nvPr/>
            </p14:nvContentPartPr>
            <p14:xfrm>
              <a:off x="799690" y="4006450"/>
              <a:ext cx="17748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98ACA2-9B6E-EDEA-7733-53109AE4738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45690" y="3898450"/>
                <a:ext cx="285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622059-C54D-BA4B-B57C-F65803873A23}"/>
                  </a:ext>
                </a:extLst>
              </p14:cNvPr>
              <p14:cNvContentPartPr/>
              <p14:nvPr/>
            </p14:nvContentPartPr>
            <p14:xfrm>
              <a:off x="806170" y="4292290"/>
              <a:ext cx="1584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622059-C54D-BA4B-B57C-F65803873A2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2170" y="4184290"/>
                <a:ext cx="266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A736C1-DECA-980D-E787-B28F8E9DBCB6}"/>
                  </a:ext>
                </a:extLst>
              </p14:cNvPr>
              <p14:cNvContentPartPr/>
              <p14:nvPr/>
            </p14:nvContentPartPr>
            <p14:xfrm>
              <a:off x="888610" y="4565170"/>
              <a:ext cx="10764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A736C1-DECA-980D-E787-B28F8E9DBCB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34610" y="4457170"/>
                <a:ext cx="215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76528A-2BC2-2EF0-DC0D-0867B971087E}"/>
                  </a:ext>
                </a:extLst>
              </p14:cNvPr>
              <p14:cNvContentPartPr/>
              <p14:nvPr/>
            </p14:nvContentPartPr>
            <p14:xfrm>
              <a:off x="172669" y="3207065"/>
              <a:ext cx="1183968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76528A-2BC2-2EF0-DC0D-0867B971087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9669" y="3081065"/>
                <a:ext cx="1196532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173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Alert ID’s involved: 5.365, 5.366, 5.379, 5.392, 5.406</a:t>
            </a:r>
            <a:endParaRPr lang="en-CA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53B99B3-98F6-7FDC-7422-8AAB5CA10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516" y="1748019"/>
            <a:ext cx="10812968" cy="43806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A598B1-01C4-6DE4-85BA-FF4B2320E74E}"/>
                  </a:ext>
                </a:extLst>
              </p14:cNvPr>
              <p14:cNvContentPartPr/>
              <p14:nvPr/>
            </p14:nvContentPartPr>
            <p14:xfrm>
              <a:off x="1055897" y="2557886"/>
              <a:ext cx="10234080" cy="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A598B1-01C4-6DE4-85BA-FF4B2320E7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2897" y="2431886"/>
                <a:ext cx="103597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9B89D6-34EB-0322-EE68-670D07639338}"/>
                  </a:ext>
                </a:extLst>
              </p14:cNvPr>
              <p14:cNvContentPartPr/>
              <p14:nvPr/>
            </p14:nvContentPartPr>
            <p14:xfrm>
              <a:off x="1055897" y="2688926"/>
              <a:ext cx="1026720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9B89D6-34EB-0322-EE68-670D076393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2897" y="2562926"/>
                <a:ext cx="10392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F1411A0-AA49-4D40-3C15-33A99C1F01E4}"/>
                  </a:ext>
                </a:extLst>
              </p14:cNvPr>
              <p14:cNvContentPartPr/>
              <p14:nvPr/>
            </p14:nvContentPartPr>
            <p14:xfrm>
              <a:off x="6454817" y="2099966"/>
              <a:ext cx="663840" cy="2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F1411A0-AA49-4D40-3C15-33A99C1F01E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00817" y="1991966"/>
                <a:ext cx="771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34AFCB-F6FE-7E83-F49F-B1123D678B1D}"/>
                  </a:ext>
                </a:extLst>
              </p14:cNvPr>
              <p14:cNvContentPartPr/>
              <p14:nvPr/>
            </p14:nvContentPartPr>
            <p14:xfrm>
              <a:off x="6324497" y="3200126"/>
              <a:ext cx="1088280" cy="45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34AFCB-F6FE-7E83-F49F-B1123D678B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34467" y="3020126"/>
                <a:ext cx="1267979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E4AFBD-7A8A-CD7F-CF43-4EACACCC9917}"/>
                  </a:ext>
                </a:extLst>
              </p14:cNvPr>
              <p14:cNvContentPartPr/>
              <p14:nvPr/>
            </p14:nvContentPartPr>
            <p14:xfrm>
              <a:off x="6390017" y="4538966"/>
              <a:ext cx="892800" cy="54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E4AFBD-7A8A-CD7F-CF43-4EACACCC991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00017" y="4360142"/>
                <a:ext cx="1072440" cy="4120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5770503-CC52-AB21-2CAB-3A747274513B}"/>
                  </a:ext>
                </a:extLst>
              </p14:cNvPr>
              <p14:cNvContentPartPr/>
              <p14:nvPr/>
            </p14:nvContentPartPr>
            <p14:xfrm>
              <a:off x="6390017" y="5224766"/>
              <a:ext cx="91440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5770503-CC52-AB21-2CAB-3A747274513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00017" y="5044766"/>
                <a:ext cx="10940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0AB12B6-4489-B7BC-3416-687305E8DE6C}"/>
                  </a:ext>
                </a:extLst>
              </p14:cNvPr>
              <p14:cNvContentPartPr/>
              <p14:nvPr/>
            </p14:nvContentPartPr>
            <p14:xfrm>
              <a:off x="6444377" y="5909846"/>
              <a:ext cx="891720" cy="12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0AB12B6-4489-B7BC-3416-687305E8DE6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54377" y="5729846"/>
                <a:ext cx="10713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F517FCE-85A3-666C-9BF6-0958B1F8ED85}"/>
                  </a:ext>
                </a:extLst>
              </p14:cNvPr>
              <p14:cNvContentPartPr/>
              <p14:nvPr/>
            </p14:nvContentPartPr>
            <p14:xfrm>
              <a:off x="6411617" y="3875126"/>
              <a:ext cx="844560" cy="77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F517FCE-85A3-666C-9BF6-0958B1F8ED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21655" y="3695955"/>
                <a:ext cx="1024123" cy="4357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811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 sz="2800"/>
              <a:t>Opening Wireshark with ID 5.365 reveals Host computer involved </a:t>
            </a:r>
            <a:r>
              <a:rPr lang="en-CA" sz="2800">
                <a:solidFill>
                  <a:srgbClr val="FF0000"/>
                </a:solidFill>
              </a:rPr>
              <a:t>DESKTOP-TZMKHKC</a:t>
            </a:r>
            <a:r>
              <a:rPr lang="en-CA" sz="2800"/>
              <a:t>, Domain one-hot-mess.com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DC0718-EC9E-2B27-A9C7-E90BC7232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487" y="681038"/>
            <a:ext cx="11415026" cy="6176962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09DF560-B9AF-E7A3-713C-55989776B8AE}"/>
                  </a:ext>
                </a:extLst>
              </p14:cNvPr>
              <p14:cNvContentPartPr/>
              <p14:nvPr/>
            </p14:nvContentPartPr>
            <p14:xfrm>
              <a:off x="1096740" y="5645790"/>
              <a:ext cx="2639880" cy="9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09DF560-B9AF-E7A3-713C-55989776B8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2740" y="5537790"/>
                <a:ext cx="27475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C104462-6BE2-EEC3-DFA8-9A9E9C6E57AE}"/>
                  </a:ext>
                </a:extLst>
              </p14:cNvPr>
              <p14:cNvContentPartPr/>
              <p14:nvPr/>
            </p14:nvContentPartPr>
            <p14:xfrm>
              <a:off x="1085580" y="6343470"/>
              <a:ext cx="4046400" cy="2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C104462-6BE2-EEC3-DFA8-9A9E9C6E57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1580" y="6235470"/>
                <a:ext cx="41540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10F281-6617-E6BF-5018-FBDB7F4DC869}"/>
                  </a:ext>
                </a:extLst>
              </p14:cNvPr>
              <p14:cNvContentPartPr/>
              <p14:nvPr/>
            </p14:nvContentPartPr>
            <p14:xfrm>
              <a:off x="2281423" y="1046385"/>
              <a:ext cx="847080" cy="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10F281-6617-E6BF-5018-FBDB7F4DC8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27423" y="947385"/>
                <a:ext cx="954720" cy="2016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87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8533"/>
            <a:ext cx="12192000" cy="2366931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The 5-tuples involved in Alert 5.365 are:</a:t>
            </a:r>
            <a:br>
              <a:rPr lang="en-CA"/>
            </a:br>
            <a:r>
              <a:rPr lang="en-CA"/>
              <a:t>Source 172.17.8.174:62362</a:t>
            </a:r>
            <a:br>
              <a:rPr lang="en-CA"/>
            </a:br>
            <a:r>
              <a:rPr lang="en-CA"/>
              <a:t>Dest 172.17.8.8:53</a:t>
            </a:r>
            <a:br>
              <a:rPr lang="en-CA"/>
            </a:br>
            <a:r>
              <a:rPr lang="en-CA"/>
              <a:t>Using UDP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237BBA-201F-469E-82E9-203C2ECEB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8246" y="2141026"/>
            <a:ext cx="10374173" cy="924054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B44E3CE-BB7E-097A-A902-6684AB3EA18D}"/>
                  </a:ext>
                </a:extLst>
              </p14:cNvPr>
              <p14:cNvContentPartPr/>
              <p14:nvPr/>
            </p14:nvContentPartPr>
            <p14:xfrm>
              <a:off x="1213632" y="2557334"/>
              <a:ext cx="10103400" cy="45719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B44E3CE-BB7E-097A-A902-6684AB3EA1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0632" y="2493835"/>
                <a:ext cx="10229040" cy="1723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418807-FBE8-9FA7-66D8-91466A445EF1}"/>
                  </a:ext>
                </a:extLst>
              </p14:cNvPr>
              <p14:cNvContentPartPr/>
              <p14:nvPr/>
            </p14:nvContentPartPr>
            <p14:xfrm>
              <a:off x="6739360" y="2905986"/>
              <a:ext cx="1149120" cy="9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418807-FBE8-9FA7-66D8-91466A445E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85360" y="2802140"/>
                <a:ext cx="1256760" cy="216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346EF28-EAA7-1AAF-3383-E42E6F0B3574}"/>
                  </a:ext>
                </a:extLst>
              </p14:cNvPr>
              <p14:cNvContentPartPr/>
              <p14:nvPr/>
            </p14:nvContentPartPr>
            <p14:xfrm>
              <a:off x="8508760" y="2896986"/>
              <a:ext cx="49356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346EF28-EAA7-1AAF-3383-E42E6F0B35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54760" y="2788986"/>
                <a:ext cx="6012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03B990-054C-D0F4-7A61-B03AACD90B69}"/>
                  </a:ext>
                </a:extLst>
              </p14:cNvPr>
              <p14:cNvContentPartPr/>
              <p14:nvPr/>
            </p14:nvContentPartPr>
            <p14:xfrm>
              <a:off x="9253960" y="2897706"/>
              <a:ext cx="939240" cy="17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03B990-054C-D0F4-7A61-B03AACD90B6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99981" y="2789706"/>
                <a:ext cx="1046839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2871950-A830-8E2A-4EEB-5025F70A79ED}"/>
                  </a:ext>
                </a:extLst>
              </p14:cNvPr>
              <p14:cNvContentPartPr/>
              <p14:nvPr/>
            </p14:nvContentPartPr>
            <p14:xfrm>
              <a:off x="10752280" y="2913906"/>
              <a:ext cx="286200" cy="9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2871950-A830-8E2A-4EEB-5025F70A79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98280" y="2805906"/>
                <a:ext cx="393840" cy="22536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E4F25D64-3356-FA62-705E-964A35C182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533" y="4014739"/>
            <a:ext cx="3242734" cy="11897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785B23-8539-A6A6-2752-E0744755B2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1335" y="3132999"/>
            <a:ext cx="5348799" cy="3579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A1B1AC4-2164-6909-1CE7-4FC583DBA5DC}"/>
                  </a:ext>
                </a:extLst>
              </p14:cNvPr>
              <p14:cNvContentPartPr/>
              <p14:nvPr/>
            </p14:nvContentPartPr>
            <p14:xfrm>
              <a:off x="5977467" y="5824693"/>
              <a:ext cx="1007640" cy="9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A1B1AC4-2164-6909-1CE7-4FC583DBA5D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23467" y="5716693"/>
                <a:ext cx="11152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D20102-3F43-F413-E4B7-97940E3820A6}"/>
                  </a:ext>
                </a:extLst>
              </p14:cNvPr>
              <p14:cNvContentPartPr/>
              <p14:nvPr/>
            </p14:nvContentPartPr>
            <p14:xfrm>
              <a:off x="5807547" y="6586813"/>
              <a:ext cx="1694160" cy="17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D20102-3F43-F413-E4B7-97940E3820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53547" y="6478813"/>
                <a:ext cx="1801800" cy="23292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049792F1-4A46-1ED8-F9FC-D5038934D78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2536" y="5746492"/>
            <a:ext cx="5519461" cy="4076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2F013BF-1028-E4C3-B06E-FCBAE5792FFE}"/>
                  </a:ext>
                </a:extLst>
              </p14:cNvPr>
              <p14:cNvContentPartPr/>
              <p14:nvPr/>
            </p14:nvContentPartPr>
            <p14:xfrm>
              <a:off x="185787" y="5858173"/>
              <a:ext cx="439920" cy="34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2F013BF-1028-E4C3-B06E-FCBAE5792FF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1787" y="5751286"/>
                <a:ext cx="547560" cy="2479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995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E9FB-F6D0-A2C6-0B3C-C3B29E6A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2E06-8C23-0B41-A8F8-F3735A04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5 Tuples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E443-B384-1E47-C22E-05962DE1C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/>
          <a:lstStyle/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2400" b="1" i="0" u="sng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First alert</a:t>
            </a:r>
            <a:r>
              <a:rPr lang="en-CA" sz="24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      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Protocol: </a:t>
            </a:r>
            <a:r>
              <a:rPr lang="en-CA" sz="18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UDP</a:t>
            </a:r>
          </a:p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Source IP: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172.17.8.174 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Source Port: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62362 </a:t>
            </a:r>
          </a:p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Destination IP: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172.17.8.8 </a:t>
            </a:r>
            <a:r>
              <a:rPr lang="en-CA" sz="1800" b="1" i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Dst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Port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53 </a:t>
            </a:r>
            <a:endParaRPr lang="en-CA" sz="1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2400" b="1" i="0" u="sng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2</a:t>
            </a:r>
            <a:r>
              <a:rPr lang="en-CA" sz="2400" b="1" i="0" u="sng" baseline="3000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nd</a:t>
            </a:r>
            <a:r>
              <a:rPr lang="en-CA" sz="2400" b="1" i="0" u="sng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3</a:t>
            </a:r>
            <a:r>
              <a:rPr lang="en-CA" sz="2400" b="1" i="0" u="sng" baseline="3000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rd</a:t>
            </a:r>
            <a:r>
              <a:rPr lang="en-CA" sz="2400" b="1" i="0" u="sng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4</a:t>
            </a:r>
            <a:r>
              <a:rPr lang="en-CA" sz="2400" b="1" i="0" u="sng" baseline="3000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</a:t>
            </a:r>
            <a:r>
              <a:rPr lang="en-CA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     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Protocol: </a:t>
            </a:r>
            <a:r>
              <a:rPr lang="en-CA" sz="180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TCP</a:t>
            </a:r>
          </a:p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Source IP: 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49.51.172.56 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Source Port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80 </a:t>
            </a:r>
          </a:p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Destination IP: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 172.17.8.174 </a:t>
            </a:r>
            <a:r>
              <a:rPr lang="en-CA" sz="1800" b="1" i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Dst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Port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49731 </a:t>
            </a:r>
            <a:endParaRPr lang="en-CA" sz="1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2400" b="1" i="0" u="sng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Last alert</a:t>
            </a:r>
            <a:r>
              <a:rPr lang="en-CA" sz="24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</a:t>
            </a:r>
            <a:r>
              <a:rPr lang="en-CA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       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Protocol: 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TCP</a:t>
            </a:r>
          </a:p>
          <a:p>
            <a:pPr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Source IP : 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91.211.88.122 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Source Port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443  </a:t>
            </a:r>
            <a:endParaRPr lang="en-CA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 rtl="0" fontAlgn="base">
              <a:lnSpc>
                <a:spcPts val="1564"/>
              </a:lnSpc>
              <a:spcAft>
                <a:spcPts val="800"/>
              </a:spcAft>
              <a:buNone/>
            </a:pP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Destination IP: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 172.17.8.174 </a:t>
            </a:r>
            <a:r>
              <a:rPr lang="en-CA" sz="1800" b="1" i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Dst</a:t>
            </a:r>
            <a:r>
              <a:rPr lang="en-CA" sz="1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Port:</a:t>
            </a:r>
            <a:r>
              <a:rPr lang="en-CA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49760 </a:t>
            </a:r>
          </a:p>
          <a:p>
            <a:pPr marL="0" indent="0" algn="l" rtl="0" fontAlgn="base">
              <a:lnSpc>
                <a:spcPts val="1564"/>
              </a:lnSpc>
              <a:spcAft>
                <a:spcPts val="800"/>
              </a:spcAft>
              <a:buNone/>
            </a:pPr>
            <a:endParaRPr lang="en-CA" sz="1800" b="0" i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fontAlgn="base">
              <a:lnSpc>
                <a:spcPts val="1564"/>
              </a:lnSpc>
              <a:spcAft>
                <a:spcPts val="800"/>
              </a:spcAft>
              <a:buNone/>
            </a:pPr>
            <a:endParaRPr lang="en-CA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30360262-72EC-5D46-4772-C80140E5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5532"/>
            <a:ext cx="12192000" cy="187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94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Protocols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/>
              <a:t>Alert 5.365: UDP, DNS dynamic update and response</a:t>
            </a:r>
          </a:p>
          <a:p>
            <a:endParaRPr lang="en-CA"/>
          </a:p>
          <a:p>
            <a:r>
              <a:rPr lang="en-CA"/>
              <a:t>Alert 5.366: TCP, HTTP</a:t>
            </a:r>
          </a:p>
          <a:p>
            <a:endParaRPr lang="en-CA"/>
          </a:p>
          <a:p>
            <a:r>
              <a:rPr lang="en-CA"/>
              <a:t>Alert 5.379: TCP, HTTP</a:t>
            </a:r>
          </a:p>
          <a:p>
            <a:endParaRPr lang="en-CA"/>
          </a:p>
          <a:p>
            <a:r>
              <a:rPr lang="en-CA"/>
              <a:t>Alert 5.392: TCP, HTTP</a:t>
            </a:r>
          </a:p>
          <a:p>
            <a:endParaRPr lang="en-CA"/>
          </a:p>
          <a:p>
            <a:r>
              <a:rPr lang="en-CA"/>
              <a:t>Alert 5.406:  TCP</a:t>
            </a:r>
          </a:p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2FBB2-A181-FA07-51F7-E1BFCDC5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348" y="1160117"/>
            <a:ext cx="8021169" cy="49441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DC6884-4DD2-3A47-F617-CD1787BC2CA7}"/>
                  </a:ext>
                </a:extLst>
              </p14:cNvPr>
              <p14:cNvContentPartPr/>
              <p14:nvPr/>
            </p14:nvContentPartPr>
            <p14:xfrm>
              <a:off x="10712290" y="1523720"/>
              <a:ext cx="317880" cy="32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DC6884-4DD2-3A47-F617-CD1787BC2C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8290" y="1415720"/>
                <a:ext cx="42552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A5F0453-F70B-01F9-47EB-0CEABE8C0172}"/>
                  </a:ext>
                </a:extLst>
              </p14:cNvPr>
              <p14:cNvContentPartPr/>
              <p14:nvPr/>
            </p14:nvContentPartPr>
            <p14:xfrm>
              <a:off x="10712290" y="1758800"/>
              <a:ext cx="349920" cy="13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A5F0453-F70B-01F9-47EB-0CEABE8C01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58290" y="1650800"/>
                <a:ext cx="457560" cy="22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347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63B1-C39C-089D-1C05-DAFC34E9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82D8-F3CA-C802-E39E-B1022CAA8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Narrowing time frame in Kibana to time of attack to see more info</a:t>
            </a:r>
            <a:endParaRPr lang="en-CA" sz="3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FE145-AE10-3176-4B4F-8F087043B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892" y="681038"/>
            <a:ext cx="11412216" cy="6176962"/>
          </a:xfrm>
        </p:spPr>
      </p:pic>
    </p:spTree>
    <p:extLst>
      <p:ext uri="{BB962C8B-B14F-4D97-AF65-F5344CB8AC3E}">
        <p14:creationId xmlns:p14="http://schemas.microsoft.com/office/powerpoint/2010/main" val="3673702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397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Users</a:t>
            </a:r>
            <a:br>
              <a:rPr lang="en-CA"/>
            </a:br>
            <a:r>
              <a:rPr lang="en-CA"/>
              <a:t>As verified in Kibana  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F123AF-B8EA-7C49-F1EB-508AC7715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8302" y="1188398"/>
            <a:ext cx="10608198" cy="5238711"/>
          </a:xfrm>
        </p:spPr>
      </p:pic>
    </p:spTree>
    <p:extLst>
      <p:ext uri="{BB962C8B-B14F-4D97-AF65-F5344CB8AC3E}">
        <p14:creationId xmlns:p14="http://schemas.microsoft.com/office/powerpoint/2010/main" val="2375941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Ports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r>
              <a:rPr lang="en-CA"/>
              <a:t>Alert 5.365 - Source port: 62362 Destination port: 53</a:t>
            </a:r>
            <a:endParaRPr lang="en-US"/>
          </a:p>
          <a:p>
            <a:endParaRPr lang="en-CA"/>
          </a:p>
          <a:p>
            <a:r>
              <a:rPr lang="en-CA"/>
              <a:t>Alert 5.366 - Source Port: 80 Destination Port: 49731</a:t>
            </a:r>
            <a:endParaRPr lang="en-US"/>
          </a:p>
          <a:p>
            <a:endParaRPr lang="en-CA"/>
          </a:p>
          <a:p>
            <a:r>
              <a:rPr lang="en-CA"/>
              <a:t>Alert 5.379 - Source Port: 80 Destination Port: 49731</a:t>
            </a:r>
            <a:endParaRPr lang="en-US"/>
          </a:p>
          <a:p>
            <a:endParaRPr lang="en-CA"/>
          </a:p>
          <a:p>
            <a:r>
              <a:rPr lang="en-CA"/>
              <a:t>Alert 5.392 - Source Port: 80 Destination Port: 49731</a:t>
            </a:r>
            <a:endParaRPr lang="en-US"/>
          </a:p>
          <a:p>
            <a:endParaRPr lang="en-CA"/>
          </a:p>
          <a:p>
            <a:r>
              <a:rPr lang="en-CA"/>
              <a:t>Alert 5.406 - Source Port: 443 Destination Port: 49760</a:t>
            </a:r>
          </a:p>
        </p:txBody>
      </p:sp>
    </p:spTree>
    <p:extLst>
      <p:ext uri="{BB962C8B-B14F-4D97-AF65-F5344CB8AC3E}">
        <p14:creationId xmlns:p14="http://schemas.microsoft.com/office/powerpoint/2010/main" val="675784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Type of communication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CA"/>
              <a:t>The type of communication used is </a:t>
            </a:r>
            <a:r>
              <a:rPr lang="en-CA" b="1"/>
              <a:t>DNS Query and response</a:t>
            </a:r>
            <a:r>
              <a:rPr lang="en-CA"/>
              <a:t>.</a:t>
            </a:r>
            <a:r>
              <a:rPr lang="en-CA">
                <a:ea typeface="+mn-lt"/>
                <a:cs typeface="+mn-lt"/>
              </a:rPr>
              <a:t> This is evident from the use of the DNS protocol over UDP, which is the standard for DNS lookups. The first line represents a query sent from 172.17.8.174 to the DNS server at 172.17.8.8, while the second line shows the server’s response returning to the original source.</a:t>
            </a: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CA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4D4340-B3C3-C47A-C78A-11CCA9037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90" y="3257550"/>
            <a:ext cx="1187022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01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85848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Geo-locations involved</a:t>
            </a:r>
            <a:br>
              <a:rPr lang="en-CA"/>
            </a:br>
            <a:r>
              <a:rPr lang="en-CA"/>
              <a:t> as verified with Kibana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5849"/>
            <a:ext cx="12192000" cy="577214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r>
              <a:rPr lang="en-CA"/>
              <a:t>Alert 5.365: No geo-location</a:t>
            </a:r>
            <a:endParaRPr lang="en-US"/>
          </a:p>
          <a:p>
            <a:endParaRPr lang="en-CA"/>
          </a:p>
          <a:p>
            <a:r>
              <a:rPr lang="en-CA"/>
              <a:t>Alert 5.366: Germany</a:t>
            </a:r>
            <a:endParaRPr lang="en-US"/>
          </a:p>
          <a:p>
            <a:endParaRPr lang="en-CA"/>
          </a:p>
          <a:p>
            <a:r>
              <a:rPr lang="en-CA"/>
              <a:t>Alert 5.379: Germany</a:t>
            </a:r>
            <a:endParaRPr lang="en-US"/>
          </a:p>
          <a:p>
            <a:endParaRPr lang="en-CA"/>
          </a:p>
          <a:p>
            <a:r>
              <a:rPr lang="en-CA"/>
              <a:t>Alert 5.392: Germany</a:t>
            </a:r>
            <a:endParaRPr lang="en-US"/>
          </a:p>
          <a:p>
            <a:endParaRPr lang="en-CA"/>
          </a:p>
          <a:p>
            <a:r>
              <a:rPr lang="en-CA"/>
              <a:t>Alert 5.406: Ukraine</a:t>
            </a:r>
          </a:p>
        </p:txBody>
      </p:sp>
    </p:spTree>
    <p:extLst>
      <p:ext uri="{BB962C8B-B14F-4D97-AF65-F5344CB8AC3E}">
        <p14:creationId xmlns:p14="http://schemas.microsoft.com/office/powerpoint/2010/main" val="1795447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09699"/>
          </a:xfrm>
        </p:spPr>
        <p:txBody>
          <a:bodyPr>
            <a:normAutofit/>
          </a:bodyPr>
          <a:lstStyle/>
          <a:p>
            <a:pPr algn="ctr"/>
            <a:r>
              <a:rPr lang="en-CA"/>
              <a:t>URIs involved</a:t>
            </a:r>
            <a:br>
              <a:rPr lang="en-CA"/>
            </a:br>
            <a:r>
              <a:rPr lang="en-CA"/>
              <a:t>as verified in Kibana by filtering by HTTP and event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3235C8-B5AC-191F-20FD-7F227F965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804" y="1322612"/>
            <a:ext cx="8168391" cy="5448301"/>
          </a:xfrm>
        </p:spPr>
      </p:pic>
    </p:spTree>
    <p:extLst>
      <p:ext uri="{BB962C8B-B14F-4D97-AF65-F5344CB8AC3E}">
        <p14:creationId xmlns:p14="http://schemas.microsoft.com/office/powerpoint/2010/main" val="1201691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6907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Was a host infected?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062604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r>
              <a:rPr lang="en-CA"/>
              <a:t>Yes, the host computer </a:t>
            </a:r>
            <a:r>
              <a:rPr lang="en-CA">
                <a:latin typeface="Aptos Display"/>
              </a:rPr>
              <a:t>DESKTOP-TZMKHKC, was infected with a malicious file called yrkbdmt.bin, a PE32 executable for MS Windows called Win.Dropper.Zenpack.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1761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Alerts triggered?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r>
              <a:rPr lang="en-CA"/>
              <a:t>Alert 5.365: alert </a:t>
            </a:r>
            <a:r>
              <a:rPr lang="en-CA" err="1"/>
              <a:t>udp</a:t>
            </a:r>
            <a:r>
              <a:rPr lang="en-CA"/>
              <a:t> $EXTERNAL_NET -&gt; $HOME_NET</a:t>
            </a:r>
          </a:p>
          <a:p>
            <a:endParaRPr lang="en-CA"/>
          </a:p>
          <a:p>
            <a:r>
              <a:rPr lang="en-CA"/>
              <a:t>Alert 5.366: alert </a:t>
            </a:r>
            <a:r>
              <a:rPr lang="en-CA" err="1"/>
              <a:t>tcp</a:t>
            </a:r>
            <a:r>
              <a:rPr lang="en-CA"/>
              <a:t> $EXTERNAL_NET $HTTP_PORTS -&gt; $HOME_NET</a:t>
            </a:r>
          </a:p>
          <a:p>
            <a:endParaRPr lang="en-CA"/>
          </a:p>
          <a:p>
            <a:r>
              <a:rPr lang="en-CA"/>
              <a:t>Alert 5.379: alert </a:t>
            </a:r>
            <a:r>
              <a:rPr lang="en-CA" err="1"/>
              <a:t>tcp</a:t>
            </a:r>
            <a:r>
              <a:rPr lang="en-CA"/>
              <a:t> $EXTERNAL_NET $HTTP_PORTS -&gt; $HOME_NET</a:t>
            </a:r>
          </a:p>
          <a:p>
            <a:endParaRPr lang="en-CA"/>
          </a:p>
          <a:p>
            <a:r>
              <a:rPr lang="en-CA"/>
              <a:t>Alert 5.392: alert </a:t>
            </a:r>
            <a:r>
              <a:rPr lang="en-CA" err="1"/>
              <a:t>tcp</a:t>
            </a:r>
            <a:r>
              <a:rPr lang="en-CA"/>
              <a:t> $EXTERNAL_NET $HTTP_PORTS -&gt; $HOME_NET</a:t>
            </a:r>
          </a:p>
          <a:p>
            <a:endParaRPr lang="en-CA"/>
          </a:p>
          <a:p>
            <a:r>
              <a:rPr lang="en-CA"/>
              <a:t>Alert 5.406: alert </a:t>
            </a:r>
            <a:r>
              <a:rPr lang="en-CA" err="1"/>
              <a:t>tcp</a:t>
            </a:r>
            <a:r>
              <a:rPr lang="en-CA"/>
              <a:t> $EXTERNAL_NET any -&gt; $HOME_NET 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0056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If alerts were triggered, were they valid?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r>
              <a:rPr lang="en-CA"/>
              <a:t>Alert 5.365: Dynamic DNS update from a domain called one-hot-mess.com, virustotal.com has found no vendors have flagged this URL as malicious.</a:t>
            </a:r>
          </a:p>
          <a:p>
            <a:endParaRPr lang="en-CA"/>
          </a:p>
          <a:p>
            <a:r>
              <a:rPr lang="en-CA"/>
              <a:t>Alert 5.366: Likely evil EXE download from </a:t>
            </a:r>
            <a:r>
              <a:rPr lang="en-CA" err="1"/>
              <a:t>WinHTTPRequest</a:t>
            </a:r>
            <a:r>
              <a:rPr lang="en-CA"/>
              <a:t>, </a:t>
            </a:r>
            <a:r>
              <a:rPr lang="en-CA">
                <a:solidFill>
                  <a:srgbClr val="FF0000"/>
                </a:solidFill>
              </a:rPr>
              <a:t>valid alert</a:t>
            </a:r>
            <a:r>
              <a:rPr lang="en-CA"/>
              <a:t>.</a:t>
            </a:r>
          </a:p>
          <a:p>
            <a:endParaRPr lang="en-CA"/>
          </a:p>
          <a:p>
            <a:r>
              <a:rPr lang="en-CA"/>
              <a:t>Alert 5.379: </a:t>
            </a:r>
            <a:r>
              <a:rPr lang="en-CA" err="1"/>
              <a:t>WinHTTPRequest</a:t>
            </a:r>
            <a:r>
              <a:rPr lang="en-CA"/>
              <a:t> downloading EXE, </a:t>
            </a:r>
            <a:r>
              <a:rPr lang="en-CA">
                <a:solidFill>
                  <a:srgbClr val="FF0000"/>
                </a:solidFill>
              </a:rPr>
              <a:t>valid alert</a:t>
            </a:r>
            <a:r>
              <a:rPr lang="en-CA"/>
              <a:t>.</a:t>
            </a:r>
          </a:p>
          <a:p>
            <a:endParaRPr lang="en-CA"/>
          </a:p>
          <a:p>
            <a:r>
              <a:rPr lang="en-CA"/>
              <a:t>Alert 5.392: PE EXE or DLL Windows Downloading EXE, </a:t>
            </a:r>
            <a:r>
              <a:rPr lang="en-CA">
                <a:solidFill>
                  <a:srgbClr val="FF0000"/>
                </a:solidFill>
              </a:rPr>
              <a:t>valid alert</a:t>
            </a:r>
            <a:r>
              <a:rPr lang="en-CA"/>
              <a:t>.</a:t>
            </a:r>
          </a:p>
          <a:p>
            <a:endParaRPr lang="en-CA"/>
          </a:p>
          <a:p>
            <a:r>
              <a:rPr lang="en-CA"/>
              <a:t>Alert 5.406: Backlisted malicious SSL certificate detected </a:t>
            </a:r>
            <a:r>
              <a:rPr lang="en-CA" err="1"/>
              <a:t>Dridex</a:t>
            </a:r>
            <a:r>
              <a:rPr lang="en-CA"/>
              <a:t>, </a:t>
            </a:r>
            <a:r>
              <a:rPr lang="en-CA">
                <a:solidFill>
                  <a:srgbClr val="FF0000"/>
                </a:solidFill>
              </a:rPr>
              <a:t>valid alert</a:t>
            </a:r>
            <a:r>
              <a:rPr lang="en-CA"/>
              <a:t>.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2719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CD49-D0CD-F684-9FBF-C37D60A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Were files downloaded?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9FC-505C-5A5F-E95D-29E6C61C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r>
              <a:rPr lang="en-CA"/>
              <a:t>Yes, one file was downloaded, it is called </a:t>
            </a:r>
            <a:r>
              <a:rPr lang="en-CA" err="1"/>
              <a:t>yrkbdmt.bin</a:t>
            </a:r>
            <a:r>
              <a:rPr lang="en-CA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820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8DCD-0B73-F5C5-F637-E62206E2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DC4C-F34D-F405-251B-CE63B762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If yes, were they malware?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E657-8B2B-D521-4D92-E980AA880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 sz="2400"/>
          </a:p>
          <a:p>
            <a:r>
              <a:rPr lang="en-CA" sz="2400"/>
              <a:t>Yes, the malware is </a:t>
            </a:r>
            <a:r>
              <a:rPr lang="en-CA" sz="2400">
                <a:latin typeface="Aptos"/>
                <a:ea typeface="Fira Mono"/>
              </a:rPr>
              <a:t>PE32 executable (console) Intel 80386, for MS Windows, a trojan malware</a:t>
            </a:r>
          </a:p>
          <a:p>
            <a:endParaRPr lang="en-CA" sz="2400">
              <a:latin typeface="Aptos"/>
              <a:ea typeface="Fira Mono"/>
            </a:endParaRPr>
          </a:p>
          <a:p>
            <a:r>
              <a:rPr lang="en-CA" sz="2400">
                <a:latin typeface="Aptos"/>
                <a:ea typeface="Fira Mono"/>
              </a:rPr>
              <a:t>The name of it is </a:t>
            </a:r>
            <a:r>
              <a:rPr lang="en-CA" sz="2400" err="1">
                <a:latin typeface="Aptos"/>
                <a:ea typeface="Fira Mono"/>
              </a:rPr>
              <a:t>Win.Dropper.Zenpak</a:t>
            </a:r>
            <a:r>
              <a:rPr lang="en-CA" sz="2400">
                <a:latin typeface="Aptos"/>
                <a:ea typeface="Fira Mono"/>
              </a:rPr>
              <a:t>::.03c962ebb5.ART.RET.TPD2.SBX.TG</a:t>
            </a:r>
          </a:p>
        </p:txBody>
      </p:sp>
    </p:spTree>
    <p:extLst>
      <p:ext uri="{BB962C8B-B14F-4D97-AF65-F5344CB8AC3E}">
        <p14:creationId xmlns:p14="http://schemas.microsoft.com/office/powerpoint/2010/main" val="2995251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9524-29A1-CCAD-7B9A-6F54EFD7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B246-448D-5EC3-9433-531ECF61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Any other information relevant to this potential incident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257E-860C-33A9-55B6-A1B99A32A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/>
          </a:p>
          <a:p>
            <a:r>
              <a:rPr lang="en-CA"/>
              <a:t>Alert 5.366, 5.379 and 5.392 all have a file signature of MZ, which indicates a Windows/DOS executable file.</a:t>
            </a:r>
          </a:p>
          <a:p>
            <a:endParaRPr lang="en-CA"/>
          </a:p>
          <a:p>
            <a:r>
              <a:rPr lang="en-CA"/>
              <a:t>All communication is encrypted to obfuscate what was happening.</a:t>
            </a:r>
          </a:p>
        </p:txBody>
      </p:sp>
    </p:spTree>
    <p:extLst>
      <p:ext uri="{BB962C8B-B14F-4D97-AF65-F5344CB8AC3E}">
        <p14:creationId xmlns:p14="http://schemas.microsoft.com/office/powerpoint/2010/main" val="3718345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5483-0A9A-0008-9949-95649E19F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6AA2-65EF-6B1E-D184-E0FC64F7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CA"/>
              <a:t>Mitigate Future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14B9E-F68C-D371-B43B-8354632A2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CA" u="sng"/>
          </a:p>
          <a:p>
            <a:r>
              <a:rPr lang="en-CA" u="sng"/>
              <a:t>Training</a:t>
            </a:r>
            <a:r>
              <a:rPr lang="en-CA"/>
              <a:t>: Have employees trained to be aware of potential threats such as phishing, suspicious files and websites to prevent future incidents. </a:t>
            </a:r>
          </a:p>
          <a:p>
            <a:endParaRPr lang="en-CA" u="sng"/>
          </a:p>
          <a:p>
            <a:r>
              <a:rPr lang="en-CA" u="sng"/>
              <a:t>Isolation</a:t>
            </a:r>
            <a:r>
              <a:rPr lang="en-CA"/>
              <a:t>: When a computer is suspected to contain malware, isolate the infected computer immediately to prevent further spread.</a:t>
            </a:r>
          </a:p>
          <a:p>
            <a:endParaRPr lang="en-CA" u="sng"/>
          </a:p>
          <a:p>
            <a:r>
              <a:rPr lang="en-CA" u="sng"/>
              <a:t>Removal</a:t>
            </a:r>
            <a:r>
              <a:rPr lang="en-CA"/>
              <a:t>: When a computer is infected, perform a thorough sweep and remove any malware on any infected computers.</a:t>
            </a:r>
          </a:p>
          <a:p>
            <a:endParaRPr lang="en-CA" u="sng"/>
          </a:p>
          <a:p>
            <a:r>
              <a:rPr lang="en-CA" u="sng"/>
              <a:t>Block</a:t>
            </a:r>
            <a:r>
              <a:rPr lang="en-CA"/>
              <a:t>: Block IP’s of offending servers that are distributing malware.</a:t>
            </a:r>
          </a:p>
          <a:p>
            <a:endParaRPr lang="en-CA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9236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5B007-5898-1B2D-18CC-6A89C195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AC20-8595-5F78-4BB5-6A86AF88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How we know file was malicious using Wireshark</a:t>
            </a:r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D7838-2842-F4BD-E0A7-64955B1DB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367" y="681038"/>
            <a:ext cx="10981265" cy="6176962"/>
          </a:xfrm>
        </p:spPr>
      </p:pic>
    </p:spTree>
    <p:extLst>
      <p:ext uri="{BB962C8B-B14F-4D97-AF65-F5344CB8AC3E}">
        <p14:creationId xmlns:p14="http://schemas.microsoft.com/office/powerpoint/2010/main" val="1929595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26063-BE4C-FA13-EA1B-DFAD11B8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3B4B-4A52-0B66-744F-14F0917E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From Alert ID 5366</a:t>
            </a:r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F6E209-35DE-4A12-FF1E-9B0462447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98" y="2355787"/>
            <a:ext cx="11798604" cy="1214728"/>
          </a:xfrm>
        </p:spPr>
      </p:pic>
    </p:spTree>
    <p:extLst>
      <p:ext uri="{BB962C8B-B14F-4D97-AF65-F5344CB8AC3E}">
        <p14:creationId xmlns:p14="http://schemas.microsoft.com/office/powerpoint/2010/main" val="832450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9EEF-343B-BAA2-4BA7-258B2B30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F04C-1E0C-56C3-3F14-3AD11F745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Saving the file from Alert ID 5366</a:t>
            </a:r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EE3D91-48EB-A16D-81D1-0B63AF06E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697" y="681038"/>
            <a:ext cx="8916606" cy="6176962"/>
          </a:xfrm>
        </p:spPr>
      </p:pic>
    </p:spTree>
    <p:extLst>
      <p:ext uri="{BB962C8B-B14F-4D97-AF65-F5344CB8AC3E}">
        <p14:creationId xmlns:p14="http://schemas.microsoft.com/office/powerpoint/2010/main" val="1659926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5ED00-8B8A-EF61-209C-3A32E81C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342F-8592-F7EE-514C-D6E69381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30035"/>
          </a:xfrm>
        </p:spPr>
        <p:txBody>
          <a:bodyPr>
            <a:normAutofit/>
          </a:bodyPr>
          <a:lstStyle/>
          <a:p>
            <a:pPr algn="ctr"/>
            <a:r>
              <a:rPr lang="en-US"/>
              <a:t>Get Hash of bin file from Alerts 5.366, 5.379 and 5.392 to compare to known malware database</a:t>
            </a:r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C1E987-5528-2264-92F6-85E87A49A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405" y="1611521"/>
            <a:ext cx="11671300" cy="2089622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907091-D8CB-3713-65AC-413540506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89" y="4215964"/>
            <a:ext cx="11676421" cy="186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63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2C19-6AD9-2F60-7AB4-4BB22859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E1E1C-8285-464D-C393-0DDFB4EC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2093"/>
          </a:xfrm>
        </p:spPr>
        <p:txBody>
          <a:bodyPr>
            <a:noAutofit/>
          </a:bodyPr>
          <a:lstStyle/>
          <a:p>
            <a:pPr algn="ctr"/>
            <a:r>
              <a:rPr lang="en-US" sz="3600"/>
              <a:t>Alert ID 5366</a:t>
            </a:r>
            <a:br>
              <a:rPr lang="en-US" sz="3600"/>
            </a:br>
            <a:r>
              <a:rPr lang="en-US" sz="3600"/>
              <a:t>Hash compared on Talos, found to be malicious (Trojan)</a:t>
            </a:r>
            <a:endParaRPr lang="en-CA" sz="3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2873CE-FD9C-0CE4-B332-61D3431B9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309" y="902094"/>
            <a:ext cx="8459381" cy="5734850"/>
          </a:xfrm>
        </p:spPr>
      </p:pic>
    </p:spTree>
    <p:extLst>
      <p:ext uri="{BB962C8B-B14F-4D97-AF65-F5344CB8AC3E}">
        <p14:creationId xmlns:p14="http://schemas.microsoft.com/office/powerpoint/2010/main" val="2707638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06043-11DC-B180-22F8-04E4E2EC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547AE3-A7C2-7BC8-9D55-0019C554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End of Report</a:t>
            </a:r>
          </a:p>
        </p:txBody>
      </p:sp>
      <p:pic>
        <p:nvPicPr>
          <p:cNvPr id="7" name="Graphic 6" descr="Memo">
            <a:extLst>
              <a:ext uri="{FF2B5EF4-FFF2-40B4-BE49-F238E27FC236}">
                <a16:creationId xmlns:a16="http://schemas.microsoft.com/office/drawing/2014/main" id="{FCEE8D48-3FDF-A8FC-6E7C-EE4725916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Memo">
            <a:extLst>
              <a:ext uri="{FF2B5EF4-FFF2-40B4-BE49-F238E27FC236}">
                <a16:creationId xmlns:a16="http://schemas.microsoft.com/office/drawing/2014/main" id="{9397086F-2A02-48CD-B8B8-B2335F05A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9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ISEC 2022 | Final Assignment</vt:lpstr>
      <vt:lpstr>Regarding the alerts on Feb 21 2020</vt:lpstr>
      <vt:lpstr>Synopsis of Events</vt:lpstr>
      <vt:lpstr>To find the information we open Sguil and go to the alerts in February</vt:lpstr>
      <vt:lpstr>5 Alerts from Feb 21 2020 00:53:55 to 01:11:48. The alerts show suspicious activity for a little over 17 minutes, but most of the alerts took place for a little over 1 minute and 12 seconds As verified in Sguil</vt:lpstr>
      <vt:lpstr>Alert ID’s involved: 5.365, 5.366, 5.379, 5.392, 5.406</vt:lpstr>
      <vt:lpstr>Opening Wireshark with ID 5.365 reveals Host computer involved DESKTOP-TZMKHKC, Domain one-hot-mess.com</vt:lpstr>
      <vt:lpstr>The 5-tuples involved in Alert 5.365 are: Source 172.17.8.174:62362 Dest 172.17.8.8:53 Using UDP</vt:lpstr>
      <vt:lpstr>5 Tuples</vt:lpstr>
      <vt:lpstr>Protocols involved</vt:lpstr>
      <vt:lpstr>Narrowing time frame in Kibana to time of attack to see more info</vt:lpstr>
      <vt:lpstr>Users As verified in Kibana  </vt:lpstr>
      <vt:lpstr>Ports involved</vt:lpstr>
      <vt:lpstr>Type of communication used</vt:lpstr>
      <vt:lpstr>Geo-locations involved  as verified with Kibana</vt:lpstr>
      <vt:lpstr>URIs involved as verified in Kibana by filtering by HTTP and event</vt:lpstr>
      <vt:lpstr>Was a host infected?</vt:lpstr>
      <vt:lpstr>Alerts triggered?</vt:lpstr>
      <vt:lpstr>If alerts were triggered, were they valid?</vt:lpstr>
      <vt:lpstr>Were files downloaded?</vt:lpstr>
      <vt:lpstr>If yes, were they malware?</vt:lpstr>
      <vt:lpstr>Any other information relevant to this potential incident</vt:lpstr>
      <vt:lpstr>Mitigate Future Attacks</vt:lpstr>
      <vt:lpstr>How we know file was malicious using Wireshark</vt:lpstr>
      <vt:lpstr>From Alert ID 5366</vt:lpstr>
      <vt:lpstr>Saving the file from Alert ID 5366</vt:lpstr>
      <vt:lpstr>Get Hash of bin file from Alerts 5.366, 5.379 and 5.392 to compare to known malware database</vt:lpstr>
      <vt:lpstr>Alert ID 5366 Hash compared on Talos, found to be malicious (Trojan)</vt:lpstr>
      <vt:lpstr>End of Report</vt:lpstr>
    </vt:vector>
  </TitlesOfParts>
  <Company>Nova Scotia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Usher,John</dc:creator>
  <cp:revision>2</cp:revision>
  <dcterms:created xsi:type="dcterms:W3CDTF">2024-09-27T11:56:19Z</dcterms:created>
  <dcterms:modified xsi:type="dcterms:W3CDTF">2025-04-13T02:50:59Z</dcterms:modified>
</cp:coreProperties>
</file>